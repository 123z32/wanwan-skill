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9FAFB"/>
                </a:solidFill>
              </a:defRPr>
            </a:pPr>
            <a:r>
              <a:t>RAG 系统技术分享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什么是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3F4F6"/>
                </a:solidFill>
              </a:defRPr>
            </a:pPr>
            <a:r>
              <a:t>• Retrieval-Augmented Generation</a:t>
            </a:r>
          </a:p>
          <a:p>
            <a:pPr>
              <a:spcAft>
                <a:spcPts val="1200"/>
              </a:spcAft>
              <a:defRPr sz="2000">
                <a:solidFill>
                  <a:srgbClr val="F3F4F6"/>
                </a:solidFill>
              </a:defRPr>
            </a:pPr>
            <a:r>
              <a:t>• 检索增强生成</a:t>
            </a:r>
          </a:p>
          <a:p>
            <a:pPr>
              <a:spcAft>
                <a:spcPts val="1200"/>
              </a:spcAft>
              <a:defRPr sz="2000">
                <a:solidFill>
                  <a:srgbClr val="F3F4F6"/>
                </a:solidFill>
              </a:defRPr>
            </a:pPr>
            <a:r>
              <a:t>• 结合 LLM 和向量数据库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核心架构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3F4F6"/>
                </a:solidFill>
              </a:defRPr>
            </a:pPr>
            <a:r>
              <a:t>• 文档切片</a:t>
            </a:r>
          </a:p>
          <a:p>
            <a:pPr>
              <a:spcAft>
                <a:spcPts val="1200"/>
              </a:spcAft>
              <a:defRPr sz="2000">
                <a:solidFill>
                  <a:srgbClr val="F3F4F6"/>
                </a:solidFill>
              </a:defRPr>
            </a:pPr>
            <a:r>
              <a:t>• Embedding 向量化</a:t>
            </a:r>
          </a:p>
          <a:p>
            <a:pPr>
              <a:spcAft>
                <a:spcPts val="1200"/>
              </a:spcAft>
              <a:defRPr sz="2000">
                <a:solidFill>
                  <a:srgbClr val="F3F4F6"/>
                </a:solidFill>
              </a:defRPr>
            </a:pPr>
            <a:r>
              <a:t>• 相似度检索</a:t>
            </a:r>
          </a:p>
          <a:p>
            <a:pPr>
              <a:spcAft>
                <a:spcPts val="1200"/>
              </a:spcAft>
              <a:defRPr sz="2000">
                <a:solidFill>
                  <a:srgbClr val="F3F4F6"/>
                </a:solidFill>
              </a:defRPr>
            </a:pPr>
            <a:r>
              <a:t>• LLM 生成回答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应用场景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3F4F6"/>
                </a:solidFill>
              </a:defRPr>
            </a:pPr>
            <a:r>
              <a:t>• 企业知识库</a:t>
            </a:r>
          </a:p>
          <a:p>
            <a:pPr>
              <a:spcAft>
                <a:spcPts val="1200"/>
              </a:spcAft>
              <a:defRPr sz="2000">
                <a:solidFill>
                  <a:srgbClr val="F3F4F6"/>
                </a:solidFill>
              </a:defRPr>
            </a:pPr>
            <a:r>
              <a:t>• 智能客服</a:t>
            </a:r>
          </a:p>
          <a:p>
            <a:pPr>
              <a:spcAft>
                <a:spcPts val="1200"/>
              </a:spcAft>
              <a:defRPr sz="2000">
                <a:solidFill>
                  <a:srgbClr val="F3F4F6"/>
                </a:solidFill>
              </a:defRPr>
            </a:pPr>
            <a:r>
              <a:t>• 文档问答</a:t>
            </a:r>
          </a:p>
          <a:p>
            <a:pPr>
              <a:spcAft>
                <a:spcPts val="1200"/>
              </a:spcAft>
              <a:defRPr sz="2000">
                <a:solidFill>
                  <a:srgbClr val="F3F4F6"/>
                </a:solidFill>
              </a:defRPr>
            </a:pPr>
            <a:r>
              <a:t>• 个人知识管理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技术优势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3F4F6"/>
                </a:solidFill>
              </a:defRPr>
            </a:pPr>
            <a:r>
              <a:t>• 减少幻觉</a:t>
            </a:r>
          </a:p>
          <a:p>
            <a:pPr>
              <a:spcAft>
                <a:spcPts val="1200"/>
              </a:spcAft>
              <a:defRPr sz="2000">
                <a:solidFill>
                  <a:srgbClr val="F3F4F6"/>
                </a:solidFill>
              </a:defRPr>
            </a:pPr>
            <a:r>
              <a:t>• 提高准确性</a:t>
            </a:r>
          </a:p>
          <a:p>
            <a:pPr>
              <a:spcAft>
                <a:spcPts val="1200"/>
              </a:spcAft>
              <a:defRPr sz="2000">
                <a:solidFill>
                  <a:srgbClr val="F3F4F6"/>
                </a:solidFill>
              </a:defRPr>
            </a:pPr>
            <a:r>
              <a:t>• 支持私有数据</a:t>
            </a:r>
          </a:p>
          <a:p>
            <a:pPr>
              <a:spcAft>
                <a:spcPts val="1200"/>
              </a:spcAft>
              <a:defRPr sz="2000">
                <a:solidFill>
                  <a:srgbClr val="F3F4F6"/>
                </a:solidFill>
              </a:defRPr>
            </a:pPr>
            <a:r>
              <a:t>• 可追溯来源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实施步骤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3F4F6"/>
                </a:solidFill>
              </a:defRPr>
            </a:pPr>
            <a:r>
              <a:t>1. 数据收集与清洗</a:t>
            </a:r>
            <a:br/>
            <a:r>
              <a:t>2. 文档切片与向量化</a:t>
            </a:r>
            <a:br/>
            <a:r>
              <a:t>3. 构建向量数据库</a:t>
            </a:r>
            <a:br/>
            <a:r>
              <a:t>4. 集成 LLM API</a:t>
            </a:r>
            <a:br/>
            <a:r>
              <a:t>5. 优化检索策略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未来展望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3F4F6"/>
                </a:solidFill>
              </a:defRPr>
            </a:pPr>
            <a:r>
              <a:t>• 多模态 RAG</a:t>
            </a:r>
          </a:p>
          <a:p>
            <a:pPr>
              <a:spcAft>
                <a:spcPts val="1200"/>
              </a:spcAft>
              <a:defRPr sz="2000">
                <a:solidFill>
                  <a:srgbClr val="F3F4F6"/>
                </a:solidFill>
              </a:defRPr>
            </a:pPr>
            <a:r>
              <a:t>• 实时检索</a:t>
            </a:r>
          </a:p>
          <a:p>
            <a:pPr>
              <a:spcAft>
                <a:spcPts val="1200"/>
              </a:spcAft>
              <a:defRPr sz="2000">
                <a:solidFill>
                  <a:srgbClr val="F3F4F6"/>
                </a:solidFill>
              </a:defRPr>
            </a:pPr>
            <a:r>
              <a:t>• 本地化部署</a:t>
            </a:r>
          </a:p>
          <a:p>
            <a:pPr>
              <a:spcAft>
                <a:spcPts val="1200"/>
              </a:spcAft>
              <a:defRPr sz="2000">
                <a:solidFill>
                  <a:srgbClr val="F3F4F6"/>
                </a:solidFill>
              </a:defRPr>
            </a:pPr>
            <a:r>
              <a:t>• 自动化优化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